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D8078-162D-41B8-9391-3DF121534B89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53B3B-9274-434E-9D5D-B4D032BC72A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818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«Когда у сервиса заканчивается сертификат, пользователю неважно, что сам сервер ещё работает. VPN, портал или интеграция могут перестать принимать защищённые подключения.
Мы сделали Certificate Radar — локальный инструмент, который помогает заранее увидеть проблемы сертификатов, понять, что важнее, и определить ответственного. Для администратора это конкретная очередь действий, для руководителя — понятная картина приоритетов».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0573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«Сложность не только в дате истечения. У сертификата может быть неправильное имя, недоверенная цепочка или слабая криптография. При этом в списке сервисов не всегда понятно, кто должен заниматься исправлением.
В результате техническая находка ещё не превращается в задачу. Нужно ответить на три вопроса: что не так, насколько важен сервис и кому поручить действие. Именно этот путь мы объединили в одном приложении».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9957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«Администратор загружает список адресов или CSV и запускает сканирование. Radar подключается к TLS-сервисам, получает сертификаты и проверяет срок, имя, доверие и базовые признаки слабой криптографии.
Затем программа рассчитывает объяснимый риск с учётом важности сервиса. Результаты можно отфильтровать, открыть в карточке, закрепить владельца и выгрузить в отчёт. При настройке каналов после скана отправляется сводка о сроках.
Агенты на целевых серверах не нужны. К ним выполняются только TLS-рукопожатия, без изменения настроек».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81642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«Это экран работающего приложения на нашем локальном стенде. Здесь 15 целей с намеренно разными ситуациями: корректные сертификаты, истекающие, недоверенные и недоступные сервисы.
На одном экране видны сроки, проблемы и приоритеты. Администратор может выбрать владельца или издателя, открыть нужный сервис и посмотреть причины риска и историю. Руководителю не нужно читать поля сертификата: достаточно увидеть важные сервисы, требующие внимания, и ответственных.
Данные получены через настоящие TLS-соединения. Это демонстрационный стенд, а не результаты обследования компании».
Если показываете приложение: используйте эти же 50 секунд вместо слайда. Dashboard → карточка VPN → причина риска и владелец. Сканы и импорт подготовьте заранее.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5463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«У нашего VPN до истечения пять дней. За такой срок формула даёт 70 баллов. VPN отмечен как критичный сервис, поэтому применяется множитель 1,3. Получается 91 из 100.
Это не вероятность аварии и не искусственный интеллект. Это прозрачный приоритет: каждое слагаемое видно в карточке. На экране есть ответственный и рекомендация по перевыпуску.
Так мы связываем технический факт — сертификат скоро истекает — с понятной управленческой задачей: этим сервисом нужно заняться раньше».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21122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«Основной сценарий уже реализован. Есть история, CSV и Excel, печатный отчёт, поддержка корпоративных центров сертификации и каналы уведомлений при их настройке.
После последних изменений зафиксировано 117 успешных автотестов. В это число входят 14 проверок с реальными TLS-соединениями. Также пройдены два полных браузерных демо без ошибок консоли.
Приложение работает локально и не требует CDN. При подготовленных зависимостях внутренние сервисы можно проверять без интернета. Внешним уведомлениям связь, конечно, нужна».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36833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«Сейчас это MVP: сканы запускаются вручную, автоматический перевыпуск и проверка отзыва сертификатов не реализованы. Исправления выполняет администратор.
Следующий шаг — контролируемый пилот на выбранной группе сервисов компании. Мы хотим проверить три результата: нашли ли полезные проблемы, назначили ли владельцев и подтвердили ли исправления повторным сканом.
Certificate Radar превращает список сертификатов в очередь понятных задач: что проверить первым, почему и кто ответственный. Спасибо».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53B3B-9274-434E-9D5D-B4D032BC72A2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2043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3165A-957B-9502-A9B4-BCA473190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1EFF9E-4A37-F146-3DFC-554FDF04C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BAEFD8-85C3-B415-4F2D-14DC94F7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9077DD-4D22-8E1E-CF6E-434FC5CE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5C4AD-EA5E-4B78-E4E6-DF3D16A5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9056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34196-DCBB-6B95-08AE-D4C1150D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C01CA0-1CC1-7E89-0FB3-6E5E25811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30E7FF-3304-32FB-553B-4BB3FE6B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314D49-0895-2535-0D6E-9F07AFD8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1741-FE2A-4697-443D-EEE7766F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5012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9B74B-2FC0-84E4-CAA7-A2B5D6D6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12F0F5-CBDC-1631-FBAF-C81E41E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B4D0B-149C-BF24-AEF8-2622679C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F7F434-D378-AC39-4D10-B35FB5E2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CE1398-9EF9-559B-4D29-EF5D4B80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1639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E30D4-2900-1D50-0500-E480A023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96C02-52C9-A7EE-AF7C-8B6684BC5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ED96D8-72CF-5EE1-8DAD-E61815579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BC8D6D-2E0A-FB7D-F6B3-CE6AB85F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6E1590-3F6C-9E7C-D405-BA6A3810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528F0B-6ADF-C2D8-BF93-8A91661F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222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F81BE-50BA-38AE-2F4F-28B567F6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1EA399-7CB0-2645-12F4-A16300960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79A88B-22AA-B57E-CCC0-24839B5D2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6D8055-4DB0-3718-C3FE-DE0053A46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F8D78F-E7D3-E367-3AE5-320A51A9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2CF2E8-3904-5DA3-D300-08ED297D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58096-79D6-5D27-EF33-3961D35D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234317-D593-F892-2433-D3866506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5339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E978E-C91B-7C1F-5418-FBF5988D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3E92C6-5B88-18CB-5138-1EF6F83F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E8BD6B-BBAE-E08C-3DFC-E971301A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99055A-41ED-0BDF-57F5-B3D4DFE9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6854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430BE8-0B47-44D0-A16A-B67618BB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87149-592F-9E05-3CF2-C82A67CF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3C22-AA52-847A-3341-2DC14814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6757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8700F-6360-9F38-7E7F-B34EEEC1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513E69-1409-17DE-7AF9-8AE8FD63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5E7DC9-228D-EADB-1FA6-036B6D4FC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B699CA-CF01-7C55-4727-04138200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02B4C1-1396-997D-A974-AC7ED0F1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9E6A8C-1ECC-EFAC-AD70-0C11F213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0838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ADF2A-F76F-F9DE-FD6D-6A471281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5792D9-CD62-F222-5E85-4B166BE62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0F6EBB-803F-915A-C08D-E933F3A22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533D8B-F2B3-ABAC-E804-FE5D13EF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0F3675-3466-71FF-4FC7-128AEAA8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BA24F2-DA0C-BF1F-F8AC-AC922813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8933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58818-BEE5-9DA7-7F17-32EA739D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10AA7C-A45E-A897-F0FD-082CFC508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CE2EE9-B6A3-5858-2B16-AF332374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6D1B8-C340-5CA3-835A-35B9E204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E9FCCA-CD2E-CEED-B181-EDBB5CCD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606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8B014F-2FA0-AF5D-613E-DD2E9FA33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873BAB-1244-F8F0-7636-54F8D6AE8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126546-7DB9-A2CA-9399-2DABB61C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545FF2-DEE0-A531-FD80-63EDC892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FDB546-0373-003F-4989-7B0CB2DA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9490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633D3-F6B6-32A4-DEC2-F6C44F92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760FBD-09B5-C371-CAD3-37A2D755C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A3A0BA-E246-2945-BF86-D89AAAB66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7BB9D-9847-4EB0-821C-B9CB17B3E062}" type="datetimeFigureOut">
              <a:rPr lang="ru-KZ" smtClean="0"/>
              <a:t>25.09.2026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6C2059-68F1-D6E7-D688-F9DB2B8E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E79B58-1709-255B-1E0D-810A4F769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BBC87-9031-44A2-8041-03DFE7A5BE7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1013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D6A50-576A-E4A3-F7C1-3A9630E969F5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B8C9D4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9197E-65FC-4D63-2F08-F5A35FE3AC3F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B8C9D4"/>
                </a:solidFill>
                <a:latin typeface="Segoe UI" panose="020B0502040204020203" pitchFamily="34" charset="0"/>
              </a:rPr>
              <a:t>01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91E04-9723-1099-95D6-50452DAEF76B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7EE0C4"/>
                </a:solidFill>
                <a:latin typeface="Segoe UI" panose="020B0502040204020203" pitchFamily="34" charset="0"/>
              </a:rPr>
              <a:t>ЛОКАЛЬНЫЙ КОНТРОЛЬ </a:t>
            </a:r>
            <a:r>
              <a:rPr lang="en-US" sz="1200" b="1">
                <a:solidFill>
                  <a:srgbClr val="7EE0C4"/>
                </a:solidFill>
                <a:latin typeface="Segoe UI" panose="020B0502040204020203" pitchFamily="34" charset="0"/>
              </a:rPr>
              <a:t>TLS-</a:t>
            </a:r>
            <a:r>
              <a:rPr lang="ru-KZ" sz="1200" b="1">
                <a:solidFill>
                  <a:srgbClr val="7EE0C4"/>
                </a:solidFill>
                <a:latin typeface="Segoe UI" panose="020B0502040204020203" pitchFamily="34" charset="0"/>
              </a:rPr>
              <a:t>СЕРТИФИКАТОВ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A6225-82B1-4887-6863-B653D42D147A}"/>
              </a:ext>
            </a:extLst>
          </p:cNvPr>
          <p:cNvSpPr txBox="1"/>
          <p:nvPr/>
        </p:nvSpPr>
        <p:spPr>
          <a:xfrm>
            <a:off x="609600" y="1422399"/>
            <a:ext cx="7366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Segoe UI" panose="020B0502040204020203" pitchFamily="34" charset="0"/>
              </a:rPr>
              <a:t>Certificate Radar</a:t>
            </a:r>
            <a:endParaRPr lang="ru-KZ" sz="4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60129-6D9F-2F25-4A5B-5C9B8644510A}"/>
              </a:ext>
            </a:extLst>
          </p:cNvPr>
          <p:cNvSpPr txBox="1"/>
          <p:nvPr/>
        </p:nvSpPr>
        <p:spPr>
          <a:xfrm>
            <a:off x="609600" y="2451099"/>
            <a:ext cx="69596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Segoe UI" panose="020B0502040204020203" pitchFamily="34" charset="0"/>
              </a:rPr>
              <a:t>Сертификаты под контролем.
Риски — по приоритету.</a:t>
            </a:r>
            <a:endParaRPr lang="ru-KZ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BD163-683E-2FD2-92DA-B5020AB4FF19}"/>
              </a:ext>
            </a:extLst>
          </p:cNvPr>
          <p:cNvSpPr txBox="1"/>
          <p:nvPr/>
        </p:nvSpPr>
        <p:spPr>
          <a:xfrm>
            <a:off x="609600" y="4241799"/>
            <a:ext cx="62865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300">
                <a:solidFill>
                  <a:srgbClr val="B8C9D4"/>
                </a:solidFill>
                <a:latin typeface="Segoe UI" panose="020B0502040204020203" pitchFamily="34" charset="0"/>
              </a:rPr>
              <a:t>Что проверить первым, почему
и кто ответственный.</a:t>
            </a:r>
            <a:endParaRPr lang="ru-KZ" sz="23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12184-CBBC-0C94-A243-E6DC6598A8B8}"/>
              </a:ext>
            </a:extLst>
          </p:cNvPr>
          <p:cNvSpPr txBox="1"/>
          <p:nvPr/>
        </p:nvSpPr>
        <p:spPr>
          <a:xfrm>
            <a:off x="609600" y="5714999"/>
            <a:ext cx="6858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7EE0C4"/>
                </a:solidFill>
                <a:latin typeface="Segoe UI" panose="020B0502040204020203" pitchFamily="34" charset="0"/>
              </a:rPr>
              <a:t>Для ИТ-команд и руководителей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81CC6F1-ABCE-C78D-259E-66E60FF3E965}"/>
              </a:ext>
            </a:extLst>
          </p:cNvPr>
          <p:cNvSpPr/>
          <p:nvPr/>
        </p:nvSpPr>
        <p:spPr>
          <a:xfrm>
            <a:off x="8140700" y="1727200"/>
            <a:ext cx="3238500" cy="3670300"/>
          </a:xfrm>
          <a:prstGeom prst="roundRect">
            <a:avLst>
              <a:gd name="adj" fmla="val 12000"/>
            </a:avLst>
          </a:prstGeom>
          <a:solidFill>
            <a:srgbClr val="1B37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A7EEB-61CD-94E1-BD7E-5AD31D662272}"/>
              </a:ext>
            </a:extLst>
          </p:cNvPr>
          <p:cNvSpPr txBox="1"/>
          <p:nvPr/>
        </p:nvSpPr>
        <p:spPr>
          <a:xfrm>
            <a:off x="8483600" y="1993899"/>
            <a:ext cx="19685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7EE0C4"/>
                </a:solidFill>
                <a:latin typeface="Segoe UI" panose="020B0502040204020203" pitchFamily="34" charset="0"/>
              </a:rPr>
              <a:t>TLS</a:t>
            </a:r>
            <a:endParaRPr lang="ru-KZ" sz="3000" b="1">
              <a:solidFill>
                <a:srgbClr val="7EE0C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D0A4810-A476-8E4C-108D-303D170DA6C5}"/>
              </a:ext>
            </a:extLst>
          </p:cNvPr>
          <p:cNvSpPr/>
          <p:nvPr/>
        </p:nvSpPr>
        <p:spPr>
          <a:xfrm>
            <a:off x="10655300" y="2057400"/>
            <a:ext cx="342900" cy="342900"/>
          </a:xfrm>
          <a:prstGeom prst="ellipse">
            <a:avLst/>
          </a:prstGeom>
          <a:solidFill>
            <a:srgbClr val="7EE0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597C3-882E-7F94-CC6B-64F46BBE1022}"/>
              </a:ext>
            </a:extLst>
          </p:cNvPr>
          <p:cNvSpPr txBox="1"/>
          <p:nvPr/>
        </p:nvSpPr>
        <p:spPr>
          <a:xfrm>
            <a:off x="8470900" y="2857500"/>
            <a:ext cx="260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100" b="1">
                <a:solidFill>
                  <a:srgbClr val="B8C9D4"/>
                </a:solidFill>
                <a:latin typeface="Segoe UI" panose="020B0502040204020203" pitchFamily="34" charset="0"/>
              </a:rPr>
              <a:t>СРОК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6B5F87-EBE3-8607-0C14-D3BDC3AB3A98}"/>
              </a:ext>
            </a:extLst>
          </p:cNvPr>
          <p:cNvSpPr txBox="1"/>
          <p:nvPr/>
        </p:nvSpPr>
        <p:spPr>
          <a:xfrm>
            <a:off x="8470900" y="3149599"/>
            <a:ext cx="26543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>
                <a:solidFill>
                  <a:srgbClr val="FFFFFF"/>
                </a:solidFill>
                <a:latin typeface="Segoe UI" panose="020B0502040204020203" pitchFamily="34" charset="0"/>
              </a:rPr>
              <a:t>Когда истекает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0EFF3-014A-44D7-E5B1-AA9C1A494A18}"/>
              </a:ext>
            </a:extLst>
          </p:cNvPr>
          <p:cNvSpPr txBox="1"/>
          <p:nvPr/>
        </p:nvSpPr>
        <p:spPr>
          <a:xfrm>
            <a:off x="8470900" y="3733800"/>
            <a:ext cx="260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100" b="1">
                <a:solidFill>
                  <a:srgbClr val="B8C9D4"/>
                </a:solidFill>
                <a:latin typeface="Segoe UI" panose="020B0502040204020203" pitchFamily="34" charset="0"/>
              </a:rPr>
              <a:t>ПРИЧИНЫ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EDBA7E-C8FE-D15D-1E65-FD57391AC57B}"/>
              </a:ext>
            </a:extLst>
          </p:cNvPr>
          <p:cNvSpPr txBox="1"/>
          <p:nvPr/>
        </p:nvSpPr>
        <p:spPr>
          <a:xfrm>
            <a:off x="8470900" y="4038599"/>
            <a:ext cx="2641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900">
                <a:solidFill>
                  <a:srgbClr val="FFFFFF"/>
                </a:solidFill>
                <a:latin typeface="Segoe UI" panose="020B0502040204020203" pitchFamily="34" charset="0"/>
              </a:rPr>
              <a:t>Что требует проверки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343F53-3E19-21AA-893D-AA018E5F4B29}"/>
              </a:ext>
            </a:extLst>
          </p:cNvPr>
          <p:cNvSpPr txBox="1"/>
          <p:nvPr/>
        </p:nvSpPr>
        <p:spPr>
          <a:xfrm>
            <a:off x="8470900" y="4749800"/>
            <a:ext cx="260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100" b="1">
                <a:solidFill>
                  <a:srgbClr val="B8C9D4"/>
                </a:solidFill>
                <a:latin typeface="Segoe UI" panose="020B0502040204020203" pitchFamily="34" charset="0"/>
              </a:rPr>
              <a:t>ВЛАДЕЛЕЦ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DA985-2EC1-F270-44E4-8BBAA9E38669}"/>
              </a:ext>
            </a:extLst>
          </p:cNvPr>
          <p:cNvSpPr txBox="1"/>
          <p:nvPr/>
        </p:nvSpPr>
        <p:spPr>
          <a:xfrm>
            <a:off x="8470900" y="5016499"/>
            <a:ext cx="26543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>
                <a:solidFill>
                  <a:srgbClr val="7EE0C4"/>
                </a:solidFill>
                <a:latin typeface="Segoe UI" panose="020B0502040204020203" pitchFamily="34" charset="0"/>
              </a:rPr>
              <a:t>Кому поручить</a:t>
            </a:r>
          </a:p>
        </p:txBody>
      </p:sp>
    </p:spTree>
    <p:extLst>
      <p:ext uri="{BB962C8B-B14F-4D97-AF65-F5344CB8AC3E}">
        <p14:creationId xmlns:p14="http://schemas.microsoft.com/office/powerpoint/2010/main" val="301277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A8806-9620-1B30-34A3-B80F046B1CE1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17588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6E2E7-F69E-47A1-DFE0-2E0FDFA62A28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617588"/>
                </a:solidFill>
                <a:latin typeface="Segoe UI" panose="020B0502040204020203" pitchFamily="34" charset="0"/>
              </a:rPr>
              <a:t>02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1C8EB-8E5B-0E24-9F25-C3B803E98475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087E8B"/>
                </a:solidFill>
                <a:latin typeface="Segoe UI" panose="020B0502040204020203" pitchFamily="34" charset="0"/>
              </a:rPr>
              <a:t>ПРОБЛЕМА ДЛЯ БИЗНЕСА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52E92-869C-EA8C-A0BD-2DEC48753FF3}"/>
              </a:ext>
            </a:extLst>
          </p:cNvPr>
          <p:cNvSpPr txBox="1"/>
          <p:nvPr/>
        </p:nvSpPr>
        <p:spPr>
          <a:xfrm>
            <a:off x="609600" y="939799"/>
            <a:ext cx="10820400" cy="1320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600" b="1">
                <a:solidFill>
                  <a:srgbClr val="142A3D"/>
                </a:solidFill>
                <a:latin typeface="Segoe UI" panose="020B0502040204020203" pitchFamily="34" charset="0"/>
              </a:rPr>
              <a:t>Один сертификат —
риск для целого сервиса</a:t>
            </a:r>
            <a:endParaRPr lang="ru-KZ" sz="3600" b="1">
              <a:solidFill>
                <a:srgbClr val="142A3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156EB19-1CE7-3DC7-B0C6-DCA8BBF49548}"/>
              </a:ext>
            </a:extLst>
          </p:cNvPr>
          <p:cNvSpPr/>
          <p:nvPr/>
        </p:nvSpPr>
        <p:spPr>
          <a:xfrm>
            <a:off x="609600" y="2705100"/>
            <a:ext cx="3454400" cy="278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369F6-74CE-F672-E87D-FAF35999E79F}"/>
              </a:ext>
            </a:extLst>
          </p:cNvPr>
          <p:cNvSpPr txBox="1"/>
          <p:nvPr/>
        </p:nvSpPr>
        <p:spPr>
          <a:xfrm>
            <a:off x="889000" y="2933699"/>
            <a:ext cx="762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5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827B1-C3CB-1046-164B-73A162B31303}"/>
              </a:ext>
            </a:extLst>
          </p:cNvPr>
          <p:cNvSpPr txBox="1"/>
          <p:nvPr/>
        </p:nvSpPr>
        <p:spPr>
          <a:xfrm>
            <a:off x="889000" y="3416299"/>
            <a:ext cx="29083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Срок пропущен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AB7AB-BCDB-53B0-0FCA-E4AEE5BBA8DB}"/>
              </a:ext>
            </a:extLst>
          </p:cNvPr>
          <p:cNvSpPr txBox="1"/>
          <p:nvPr/>
        </p:nvSpPr>
        <p:spPr>
          <a:xfrm>
            <a:off x="889000" y="4406899"/>
            <a:ext cx="29337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617588"/>
                </a:solidFill>
                <a:latin typeface="Segoe UI" panose="020B0502040204020203" pitchFamily="34" charset="0"/>
              </a:rPr>
              <a:t>Клиенты могут потерять
доступ к VPN, порталу
или API.</a:t>
            </a:r>
            <a:endParaRPr lang="ru-KZ" sz="16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D731C34-E962-D8F2-55AF-1F10A31811A0}"/>
              </a:ext>
            </a:extLst>
          </p:cNvPr>
          <p:cNvSpPr/>
          <p:nvPr/>
        </p:nvSpPr>
        <p:spPr>
          <a:xfrm>
            <a:off x="4368800" y="2705100"/>
            <a:ext cx="3454400" cy="278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07FB2-3BBD-A28F-14EA-1235F14963A3}"/>
              </a:ext>
            </a:extLst>
          </p:cNvPr>
          <p:cNvSpPr txBox="1"/>
          <p:nvPr/>
        </p:nvSpPr>
        <p:spPr>
          <a:xfrm>
            <a:off x="4648200" y="2933699"/>
            <a:ext cx="762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5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EC828-39C1-60EB-68BC-63E727C5C095}"/>
              </a:ext>
            </a:extLst>
          </p:cNvPr>
          <p:cNvSpPr txBox="1"/>
          <p:nvPr/>
        </p:nvSpPr>
        <p:spPr>
          <a:xfrm>
            <a:off x="4648200" y="3416299"/>
            <a:ext cx="29083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Ошибка имени
или доверия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36FA2-FE11-1264-B68A-CE4091687BE9}"/>
              </a:ext>
            </a:extLst>
          </p:cNvPr>
          <p:cNvSpPr txBox="1"/>
          <p:nvPr/>
        </p:nvSpPr>
        <p:spPr>
          <a:xfrm>
            <a:off x="4648200" y="4406899"/>
            <a:ext cx="29337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617588"/>
                </a:solidFill>
                <a:latin typeface="Segoe UI" panose="020B0502040204020203" pitchFamily="34" charset="0"/>
              </a:rPr>
              <a:t>Сертификат ещё действует,
а защищённое подключение
уже не проходит.</a:t>
            </a:r>
            <a:endParaRPr lang="ru-KZ" sz="16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32B2453-B866-0D8A-D71D-0A80BDA1EF2B}"/>
              </a:ext>
            </a:extLst>
          </p:cNvPr>
          <p:cNvSpPr/>
          <p:nvPr/>
        </p:nvSpPr>
        <p:spPr>
          <a:xfrm>
            <a:off x="8128000" y="2705100"/>
            <a:ext cx="3454400" cy="278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A19B-4A0E-427A-7894-DA5E450BC675}"/>
              </a:ext>
            </a:extLst>
          </p:cNvPr>
          <p:cNvSpPr txBox="1"/>
          <p:nvPr/>
        </p:nvSpPr>
        <p:spPr>
          <a:xfrm>
            <a:off x="8407400" y="2933699"/>
            <a:ext cx="762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5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7188A-3DDC-AF3A-EB60-99F88650C47E}"/>
              </a:ext>
            </a:extLst>
          </p:cNvPr>
          <p:cNvSpPr txBox="1"/>
          <p:nvPr/>
        </p:nvSpPr>
        <p:spPr>
          <a:xfrm>
            <a:off x="8407400" y="3416299"/>
            <a:ext cx="29083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Ответственный
не назначен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74CC14-5E6D-F194-3DD3-E3CD23E0BB6E}"/>
              </a:ext>
            </a:extLst>
          </p:cNvPr>
          <p:cNvSpPr txBox="1"/>
          <p:nvPr/>
        </p:nvSpPr>
        <p:spPr>
          <a:xfrm>
            <a:off x="8407400" y="4406899"/>
            <a:ext cx="29337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617588"/>
                </a:solidFill>
                <a:latin typeface="Segoe UI" panose="020B0502040204020203" pitchFamily="34" charset="0"/>
              </a:rPr>
              <a:t>Проблема найдена,
но непонятно, кто
должен её исправить.</a:t>
            </a:r>
            <a:endParaRPr lang="ru-KZ" sz="16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3A794-8BBF-4E8E-08D4-D2CEFA3D1A15}"/>
              </a:ext>
            </a:extLst>
          </p:cNvPr>
          <p:cNvSpPr txBox="1"/>
          <p:nvPr/>
        </p:nvSpPr>
        <p:spPr>
          <a:xfrm>
            <a:off x="609600" y="5816599"/>
            <a:ext cx="1090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 b="1">
                <a:solidFill>
                  <a:srgbClr val="087E8B"/>
                </a:solidFill>
                <a:latin typeface="Segoe UI" panose="020B0502040204020203" pitchFamily="34" charset="0"/>
              </a:rPr>
              <a:t>Нужна очередь действий: что важнее и кому поручить.</a:t>
            </a:r>
            <a:endParaRPr lang="ru-KZ" sz="2200" b="1">
              <a:solidFill>
                <a:srgbClr val="087E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2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5164D-F52E-802E-DE56-71ED3B2161E9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17588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D46F5-CF0D-79DD-368B-90152DBB9203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617588"/>
                </a:solidFill>
                <a:latin typeface="Segoe UI" panose="020B0502040204020203" pitchFamily="34" charset="0"/>
              </a:rPr>
              <a:t>03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31540-BCD6-E49B-636F-B0F6FDB6D5D4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087E8B"/>
                </a:solidFill>
                <a:latin typeface="Segoe UI" panose="020B0502040204020203" pitchFamily="34" charset="0"/>
              </a:rPr>
              <a:t>КАК РАБОТАЕТ РЕШЕНИЕ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C55C2-CE52-E73C-B21C-13A3A7CC7728}"/>
              </a:ext>
            </a:extLst>
          </p:cNvPr>
          <p:cNvSpPr txBox="1"/>
          <p:nvPr/>
        </p:nvSpPr>
        <p:spPr>
          <a:xfrm>
            <a:off x="609600" y="939799"/>
            <a:ext cx="10795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600" b="1">
                <a:solidFill>
                  <a:srgbClr val="142A3D"/>
                </a:solidFill>
                <a:latin typeface="Segoe UI" panose="020B0502040204020203" pitchFamily="34" charset="0"/>
              </a:rPr>
              <a:t>От списка адресов
к понятным действиям</a:t>
            </a:r>
            <a:endParaRPr lang="ru-KZ" sz="3600" b="1">
              <a:solidFill>
                <a:srgbClr val="142A3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462E018-9F96-8F17-5928-FC20E620DAD3}"/>
              </a:ext>
            </a:extLst>
          </p:cNvPr>
          <p:cNvSpPr/>
          <p:nvPr/>
        </p:nvSpPr>
        <p:spPr>
          <a:xfrm>
            <a:off x="609600" y="2844800"/>
            <a:ext cx="2489200" cy="2628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F2CD95B-56B5-2B8A-5659-F1D0D145856E}"/>
              </a:ext>
            </a:extLst>
          </p:cNvPr>
          <p:cNvSpPr/>
          <p:nvPr/>
        </p:nvSpPr>
        <p:spPr>
          <a:xfrm>
            <a:off x="838200" y="3086100"/>
            <a:ext cx="406400" cy="406400"/>
          </a:xfrm>
          <a:prstGeom prst="ellipse">
            <a:avLst/>
          </a:prstGeom>
          <a:solidFill>
            <a:srgbClr val="087E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FFCCE-ABA7-E9D3-B3B2-174BC1E12FC5}"/>
              </a:ext>
            </a:extLst>
          </p:cNvPr>
          <p:cNvSpPr txBox="1"/>
          <p:nvPr/>
        </p:nvSpPr>
        <p:spPr>
          <a:xfrm>
            <a:off x="965200" y="3124199"/>
            <a:ext cx="25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8BED5-1962-62B6-6E52-9F05C73C0E17}"/>
              </a:ext>
            </a:extLst>
          </p:cNvPr>
          <p:cNvSpPr txBox="1"/>
          <p:nvPr/>
        </p:nvSpPr>
        <p:spPr>
          <a:xfrm>
            <a:off x="838200" y="3695699"/>
            <a:ext cx="2095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Загрузить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1CB52C-0853-1ABD-C9A4-68D7AD188EA4}"/>
              </a:ext>
            </a:extLst>
          </p:cNvPr>
          <p:cNvSpPr txBox="1"/>
          <p:nvPr/>
        </p:nvSpPr>
        <p:spPr>
          <a:xfrm>
            <a:off x="838200" y="4648199"/>
            <a:ext cx="20955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617588"/>
                </a:solidFill>
                <a:latin typeface="Segoe UI" panose="020B0502040204020203" pitchFamily="34" charset="0"/>
              </a:rPr>
              <a:t>DNS, IP, CSV
или подсеть</a:t>
            </a:r>
            <a:endParaRPr lang="ru-KZ" sz="16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D07F0-C11C-B6D3-4959-EFD59CD0CAC5}"/>
              </a:ext>
            </a:extLst>
          </p:cNvPr>
          <p:cNvSpPr txBox="1"/>
          <p:nvPr/>
        </p:nvSpPr>
        <p:spPr>
          <a:xfrm>
            <a:off x="3162300" y="3860799"/>
            <a:ext cx="2413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800">
                <a:solidFill>
                  <a:srgbClr val="087E8B"/>
                </a:solidFill>
                <a:latin typeface="Segoe UI" panose="020B0502040204020203" pitchFamily="34" charset="0"/>
              </a:rPr>
              <a:t>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6FD48E5-325F-759F-D09C-8DC5274616DA}"/>
              </a:ext>
            </a:extLst>
          </p:cNvPr>
          <p:cNvSpPr/>
          <p:nvPr/>
        </p:nvSpPr>
        <p:spPr>
          <a:xfrm>
            <a:off x="3403600" y="2844800"/>
            <a:ext cx="2489200" cy="2628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C5CB171-B543-00F2-34CE-95AD540CEEC7}"/>
              </a:ext>
            </a:extLst>
          </p:cNvPr>
          <p:cNvSpPr/>
          <p:nvPr/>
        </p:nvSpPr>
        <p:spPr>
          <a:xfrm>
            <a:off x="3632200" y="3086100"/>
            <a:ext cx="406400" cy="406400"/>
          </a:xfrm>
          <a:prstGeom prst="ellipse">
            <a:avLst/>
          </a:prstGeom>
          <a:solidFill>
            <a:srgbClr val="087E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45E53-8B0B-46F7-9D8F-FD35C0C44CDF}"/>
              </a:ext>
            </a:extLst>
          </p:cNvPr>
          <p:cNvSpPr txBox="1"/>
          <p:nvPr/>
        </p:nvSpPr>
        <p:spPr>
          <a:xfrm>
            <a:off x="3759200" y="3124199"/>
            <a:ext cx="25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36F7F0-8F1E-3C9C-6E74-BE2A6DB23EAC}"/>
              </a:ext>
            </a:extLst>
          </p:cNvPr>
          <p:cNvSpPr txBox="1"/>
          <p:nvPr/>
        </p:nvSpPr>
        <p:spPr>
          <a:xfrm>
            <a:off x="3632200" y="3695699"/>
            <a:ext cx="2095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Проверить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1AC3B-EA71-ED9B-033F-FC2E0CF4A22E}"/>
              </a:ext>
            </a:extLst>
          </p:cNvPr>
          <p:cNvSpPr txBox="1"/>
          <p:nvPr/>
        </p:nvSpPr>
        <p:spPr>
          <a:xfrm>
            <a:off x="3632200" y="4648199"/>
            <a:ext cx="20955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617588"/>
                </a:solidFill>
                <a:latin typeface="Segoe UI" panose="020B0502040204020203" pitchFamily="34" charset="0"/>
              </a:rPr>
              <a:t>Срок, имя, доверие,
криптографию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7316A0-34E1-AA23-7C3A-98FCC7059D37}"/>
              </a:ext>
            </a:extLst>
          </p:cNvPr>
          <p:cNvSpPr txBox="1"/>
          <p:nvPr/>
        </p:nvSpPr>
        <p:spPr>
          <a:xfrm>
            <a:off x="5956300" y="3860799"/>
            <a:ext cx="2413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800">
                <a:solidFill>
                  <a:srgbClr val="087E8B"/>
                </a:solidFill>
                <a:latin typeface="Segoe UI" panose="020B0502040204020203" pitchFamily="34" charset="0"/>
              </a:rPr>
              <a:t>›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E6507EC-4DD2-CA47-AD41-59103C2D21E6}"/>
              </a:ext>
            </a:extLst>
          </p:cNvPr>
          <p:cNvSpPr/>
          <p:nvPr/>
        </p:nvSpPr>
        <p:spPr>
          <a:xfrm>
            <a:off x="6197600" y="2844800"/>
            <a:ext cx="2489200" cy="2628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BD70A4E-2954-4F9F-DCDC-677E67F8707C}"/>
              </a:ext>
            </a:extLst>
          </p:cNvPr>
          <p:cNvSpPr/>
          <p:nvPr/>
        </p:nvSpPr>
        <p:spPr>
          <a:xfrm>
            <a:off x="6426200" y="3086100"/>
            <a:ext cx="406400" cy="406400"/>
          </a:xfrm>
          <a:prstGeom prst="ellipse">
            <a:avLst/>
          </a:prstGeom>
          <a:solidFill>
            <a:srgbClr val="087E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F3D0C7-8D5C-A910-0587-57C7CBD64183}"/>
              </a:ext>
            </a:extLst>
          </p:cNvPr>
          <p:cNvSpPr txBox="1"/>
          <p:nvPr/>
        </p:nvSpPr>
        <p:spPr>
          <a:xfrm>
            <a:off x="6553200" y="3124199"/>
            <a:ext cx="25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0438A-9DED-9819-4283-FC578B9FD252}"/>
              </a:ext>
            </a:extLst>
          </p:cNvPr>
          <p:cNvSpPr txBox="1"/>
          <p:nvPr/>
        </p:nvSpPr>
        <p:spPr>
          <a:xfrm>
            <a:off x="6426200" y="3695699"/>
            <a:ext cx="2095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Расставить
приоритеты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C46785-D74B-C0CB-37DF-32DB469CCBEF}"/>
              </a:ext>
            </a:extLst>
          </p:cNvPr>
          <p:cNvSpPr txBox="1"/>
          <p:nvPr/>
        </p:nvSpPr>
        <p:spPr>
          <a:xfrm>
            <a:off x="6426200" y="4648199"/>
            <a:ext cx="20955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617588"/>
                </a:solidFill>
                <a:latin typeface="Segoe UI" panose="020B0502040204020203" pitchFamily="34" charset="0"/>
              </a:rPr>
              <a:t>Баллы риска +
важность сервиса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6405CB-7D3B-9542-CDD5-66B07A55DEEB}"/>
              </a:ext>
            </a:extLst>
          </p:cNvPr>
          <p:cNvSpPr txBox="1"/>
          <p:nvPr/>
        </p:nvSpPr>
        <p:spPr>
          <a:xfrm>
            <a:off x="8750300" y="3860799"/>
            <a:ext cx="2413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800">
                <a:solidFill>
                  <a:srgbClr val="087E8B"/>
                </a:solidFill>
                <a:latin typeface="Segoe UI" panose="020B0502040204020203" pitchFamily="34" charset="0"/>
              </a:rPr>
              <a:t>›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45E8E69-2455-688A-D248-0B5B50DC6C2D}"/>
              </a:ext>
            </a:extLst>
          </p:cNvPr>
          <p:cNvSpPr/>
          <p:nvPr/>
        </p:nvSpPr>
        <p:spPr>
          <a:xfrm>
            <a:off x="8991600" y="2844800"/>
            <a:ext cx="2489200" cy="2628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BEC08750-6FB4-E336-48B3-01371DB2DBB7}"/>
              </a:ext>
            </a:extLst>
          </p:cNvPr>
          <p:cNvSpPr/>
          <p:nvPr/>
        </p:nvSpPr>
        <p:spPr>
          <a:xfrm>
            <a:off x="9220200" y="3086100"/>
            <a:ext cx="406400" cy="406400"/>
          </a:xfrm>
          <a:prstGeom prst="ellipse">
            <a:avLst/>
          </a:prstGeom>
          <a:solidFill>
            <a:srgbClr val="087E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40EA1B-CFCF-32F1-9F6C-807E0B90F740}"/>
              </a:ext>
            </a:extLst>
          </p:cNvPr>
          <p:cNvSpPr txBox="1"/>
          <p:nvPr/>
        </p:nvSpPr>
        <p:spPr>
          <a:xfrm>
            <a:off x="9347200" y="3124199"/>
            <a:ext cx="25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2756A-5F86-B6F7-DBDC-AB1D81228617}"/>
              </a:ext>
            </a:extLst>
          </p:cNvPr>
          <p:cNvSpPr txBox="1"/>
          <p:nvPr/>
        </p:nvSpPr>
        <p:spPr>
          <a:xfrm>
            <a:off x="9220200" y="3695699"/>
            <a:ext cx="2095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200" b="1">
                <a:solidFill>
                  <a:srgbClr val="142A3D"/>
                </a:solidFill>
                <a:latin typeface="Segoe UI" panose="020B0502040204020203" pitchFamily="34" charset="0"/>
              </a:rPr>
              <a:t>Действовать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98292D-22AE-0428-81CC-DBAD8903799B}"/>
              </a:ext>
            </a:extLst>
          </p:cNvPr>
          <p:cNvSpPr txBox="1"/>
          <p:nvPr/>
        </p:nvSpPr>
        <p:spPr>
          <a:xfrm>
            <a:off x="9220200" y="4648199"/>
            <a:ext cx="20955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617588"/>
                </a:solidFill>
                <a:latin typeface="Segoe UI" panose="020B0502040204020203" pitchFamily="34" charset="0"/>
              </a:rPr>
              <a:t>Ответственный,
сводка и отчёт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1A5626-1033-BCF0-AC98-797D63F3166B}"/>
              </a:ext>
            </a:extLst>
          </p:cNvPr>
          <p:cNvSpPr txBox="1"/>
          <p:nvPr/>
        </p:nvSpPr>
        <p:spPr>
          <a:xfrm>
            <a:off x="609600" y="58546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900">
                <a:solidFill>
                  <a:srgbClr val="087E8B"/>
                </a:solidFill>
                <a:latin typeface="Segoe UI" panose="020B0502040204020203" pitchFamily="34" charset="0"/>
              </a:rPr>
              <a:t>Без агентов на серверах · К целям — только TLS-рукопожатия</a:t>
            </a:r>
            <a:endParaRPr lang="ru-KZ" sz="1900">
              <a:solidFill>
                <a:srgbClr val="087E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837E8-73BF-EBFE-C617-D28365B9C89B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17588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27809-F3FF-6771-D86B-4BD430E6F943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617588"/>
                </a:solidFill>
                <a:latin typeface="Segoe UI" panose="020B0502040204020203" pitchFamily="34" charset="0"/>
              </a:rPr>
              <a:t>04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5121C-C634-FF14-E063-48D6AC7A35A4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087E8B"/>
                </a:solidFill>
                <a:latin typeface="Segoe UI" panose="020B0502040204020203" pitchFamily="34" charset="0"/>
              </a:rPr>
              <a:t>РАБОТАЮЩИЙ ПРОДУКТ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C0C24-E301-7B67-EC9B-66156CAB4AEF}"/>
              </a:ext>
            </a:extLst>
          </p:cNvPr>
          <p:cNvSpPr txBox="1"/>
          <p:nvPr/>
        </p:nvSpPr>
        <p:spPr>
          <a:xfrm>
            <a:off x="609600" y="914399"/>
            <a:ext cx="108585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3400" b="1">
                <a:solidFill>
                  <a:srgbClr val="142A3D"/>
                </a:solidFill>
                <a:latin typeface="Segoe UI" panose="020B0502040204020203" pitchFamily="34" charset="0"/>
              </a:rPr>
              <a:t>Видно, где нужно внимание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1A345E-CA0F-F851-864C-FEE185BC175B}"/>
              </a:ext>
            </a:extLst>
          </p:cNvPr>
          <p:cNvSpPr txBox="1"/>
          <p:nvPr/>
        </p:nvSpPr>
        <p:spPr>
          <a:xfrm>
            <a:off x="609600" y="1981199"/>
            <a:ext cx="30607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7000" b="1">
                <a:solidFill>
                  <a:srgbClr val="087E8B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2F4E7-4671-E6AF-1DB2-7048F6F6E30F}"/>
              </a:ext>
            </a:extLst>
          </p:cNvPr>
          <p:cNvSpPr txBox="1"/>
          <p:nvPr/>
        </p:nvSpPr>
        <p:spPr>
          <a:xfrm>
            <a:off x="635000" y="3098799"/>
            <a:ext cx="32893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>
                <a:solidFill>
                  <a:srgbClr val="142A3D"/>
                </a:solidFill>
                <a:latin typeface="Segoe UI" panose="020B0502040204020203" pitchFamily="34" charset="0"/>
              </a:rPr>
              <a:t>целей на локальном стенде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5F35A-E256-191A-564E-D3186EE392FB}"/>
              </a:ext>
            </a:extLst>
          </p:cNvPr>
          <p:cNvSpPr txBox="1"/>
          <p:nvPr/>
        </p:nvSpPr>
        <p:spPr>
          <a:xfrm>
            <a:off x="635000" y="4038599"/>
            <a:ext cx="3467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 b="1">
                <a:solidFill>
                  <a:srgbClr val="142A3D"/>
                </a:solidFill>
                <a:latin typeface="Segoe UI" panose="020B0502040204020203" pitchFamily="34" charset="0"/>
              </a:rPr>
              <a:t>Для администратора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C5771-628E-330C-F49A-21914E1A34C7}"/>
              </a:ext>
            </a:extLst>
          </p:cNvPr>
          <p:cNvSpPr txBox="1"/>
          <p:nvPr/>
        </p:nvSpPr>
        <p:spPr>
          <a:xfrm>
            <a:off x="635000" y="4483099"/>
            <a:ext cx="3492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617588"/>
                </a:solidFill>
                <a:latin typeface="Segoe UI" panose="020B0502040204020203" pitchFamily="34" charset="0"/>
              </a:rPr>
              <a:t>Причины, история, действия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6E640-0B2B-03A8-845E-A6DB284E17E5}"/>
              </a:ext>
            </a:extLst>
          </p:cNvPr>
          <p:cNvSpPr txBox="1"/>
          <p:nvPr/>
        </p:nvSpPr>
        <p:spPr>
          <a:xfrm>
            <a:off x="635000" y="5181599"/>
            <a:ext cx="3467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 b="1">
                <a:solidFill>
                  <a:srgbClr val="142A3D"/>
                </a:solidFill>
                <a:latin typeface="Segoe UI" panose="020B0502040204020203" pitchFamily="34" charset="0"/>
              </a:rPr>
              <a:t>Для руководителя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50927A-5831-C77E-4935-C8DB8ECA8B3D}"/>
              </a:ext>
            </a:extLst>
          </p:cNvPr>
          <p:cNvSpPr txBox="1"/>
          <p:nvPr/>
        </p:nvSpPr>
        <p:spPr>
          <a:xfrm>
            <a:off x="635000" y="5626099"/>
            <a:ext cx="35179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600">
                <a:solidFill>
                  <a:srgbClr val="617588"/>
                </a:solidFill>
                <a:latin typeface="Segoe UI" panose="020B0502040204020203" pitchFamily="34" charset="0"/>
              </a:rPr>
              <a:t>Приоритеты и ответственные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CC475F4-851E-C71E-AC44-FB45716856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587500"/>
            <a:ext cx="6858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8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16484-5F32-51E7-14CE-70EE0E870442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B8C9D4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8A6CD-B5D2-23DE-E602-CC46BD1D55E3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B8C9D4"/>
                </a:solidFill>
                <a:latin typeface="Segoe UI" panose="020B0502040204020203" pitchFamily="34" charset="0"/>
              </a:rPr>
              <a:t>05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6EB1E-322C-BA10-EB9C-63EAFE9E7B30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7EE0C4"/>
                </a:solidFill>
                <a:latin typeface="Segoe UI" panose="020B0502040204020203" pitchFamily="34" charset="0"/>
              </a:rPr>
              <a:t>ПРИМЕР: КРИТИЧНЫЙ </a:t>
            </a:r>
            <a:r>
              <a:rPr lang="en-US" sz="1200" b="1">
                <a:solidFill>
                  <a:srgbClr val="7EE0C4"/>
                </a:solidFill>
                <a:latin typeface="Segoe UI" panose="020B0502040204020203" pitchFamily="34" charset="0"/>
              </a:rPr>
              <a:t>VPN</a:t>
            </a:r>
            <a:endParaRPr lang="ru-KZ" sz="1200" b="1">
              <a:solidFill>
                <a:srgbClr val="7EE0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EA64F-C8C8-AC2D-6602-8D72E3149A0D}"/>
              </a:ext>
            </a:extLst>
          </p:cNvPr>
          <p:cNvSpPr txBox="1"/>
          <p:nvPr/>
        </p:nvSpPr>
        <p:spPr>
          <a:xfrm>
            <a:off x="609600" y="965199"/>
            <a:ext cx="10795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600" b="1">
                <a:solidFill>
                  <a:srgbClr val="FFFFFF"/>
                </a:solidFill>
                <a:latin typeface="Segoe UI" panose="020B0502040204020203" pitchFamily="34" charset="0"/>
              </a:rPr>
              <a:t>Почему риск — 91 из 100</a:t>
            </a:r>
            <a:endParaRPr lang="ru-KZ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2D4D6-4361-5923-A95F-A967C36D7DCC}"/>
              </a:ext>
            </a:extLst>
          </p:cNvPr>
          <p:cNvSpPr txBox="1"/>
          <p:nvPr/>
        </p:nvSpPr>
        <p:spPr>
          <a:xfrm>
            <a:off x="609600" y="2285999"/>
            <a:ext cx="36703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1600" b="1">
                <a:solidFill>
                  <a:srgbClr val="7EE0C4"/>
                </a:solidFill>
                <a:latin typeface="Segoe UI" panose="020B0502040204020203" pitchFamily="34" charset="0"/>
              </a:rPr>
              <a:t>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14FCF-9B8D-FC50-9AC5-4DA73CBAE090}"/>
              </a:ext>
            </a:extLst>
          </p:cNvPr>
          <p:cNvSpPr txBox="1"/>
          <p:nvPr/>
        </p:nvSpPr>
        <p:spPr>
          <a:xfrm>
            <a:off x="711200" y="4381499"/>
            <a:ext cx="4394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B8C9D4"/>
                </a:solidFill>
                <a:latin typeface="Segoe UI" panose="020B0502040204020203" pitchFamily="34" charset="0"/>
              </a:rPr>
              <a:t>Critical · </a:t>
            </a:r>
            <a:r>
              <a:rPr lang="ru-KZ" sz="2000">
                <a:solidFill>
                  <a:srgbClr val="B8C9D4"/>
                </a:solidFill>
                <a:latin typeface="Segoe UI" panose="020B0502040204020203" pitchFamily="34" charset="0"/>
              </a:rPr>
              <a:t>приоритет действий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6005927-FCF0-16F2-DCFF-D29297B6A5D5}"/>
              </a:ext>
            </a:extLst>
          </p:cNvPr>
          <p:cNvSpPr/>
          <p:nvPr/>
        </p:nvSpPr>
        <p:spPr>
          <a:xfrm>
            <a:off x="5346700" y="2247900"/>
            <a:ext cx="6235700" cy="2717800"/>
          </a:xfrm>
          <a:prstGeom prst="roundRect">
            <a:avLst>
              <a:gd name="adj" fmla="val 12000"/>
            </a:avLst>
          </a:prstGeom>
          <a:solidFill>
            <a:srgbClr val="1B37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714A9-4CAA-6122-532F-3D187B807452}"/>
              </a:ext>
            </a:extLst>
          </p:cNvPr>
          <p:cNvSpPr txBox="1"/>
          <p:nvPr/>
        </p:nvSpPr>
        <p:spPr>
          <a:xfrm>
            <a:off x="5651500" y="2514599"/>
            <a:ext cx="566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500" b="1">
                <a:solidFill>
                  <a:srgbClr val="FFFFFF"/>
                </a:solidFill>
                <a:latin typeface="Segoe UI" panose="020B0502040204020203" pitchFamily="34" charset="0"/>
              </a:rPr>
              <a:t>5 дней до истечения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06F64-7F07-9E61-E65A-4914F61F1956}"/>
              </a:ext>
            </a:extLst>
          </p:cNvPr>
          <p:cNvSpPr txBox="1"/>
          <p:nvPr/>
        </p:nvSpPr>
        <p:spPr>
          <a:xfrm>
            <a:off x="5651500" y="3187699"/>
            <a:ext cx="5664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3400" b="1">
                <a:solidFill>
                  <a:srgbClr val="7EE0C4"/>
                </a:solidFill>
                <a:latin typeface="Segoe UI" panose="020B0502040204020203" pitchFamily="34" charset="0"/>
              </a:rPr>
              <a:t>70 баллов × 1,3 = 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6FC4B-06B1-B301-4776-786D1466A113}"/>
              </a:ext>
            </a:extLst>
          </p:cNvPr>
          <p:cNvSpPr txBox="1"/>
          <p:nvPr/>
        </p:nvSpPr>
        <p:spPr>
          <a:xfrm>
            <a:off x="5651500" y="4025899"/>
            <a:ext cx="558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900">
                <a:solidFill>
                  <a:srgbClr val="B8C9D4"/>
                </a:solidFill>
                <a:latin typeface="Segoe UI" panose="020B0502040204020203" pitchFamily="34" charset="0"/>
              </a:rPr>
              <a:t>Множитель за критичность </a:t>
            </a:r>
            <a:r>
              <a:rPr lang="en-US" sz="1900">
                <a:solidFill>
                  <a:srgbClr val="B8C9D4"/>
                </a:solidFill>
                <a:latin typeface="Segoe UI" panose="020B0502040204020203" pitchFamily="34" charset="0"/>
              </a:rPr>
              <a:t>VPN</a:t>
            </a:r>
            <a:endParaRPr lang="ru-KZ" sz="19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B425B-50F0-1781-7DFF-39A54EBEC276}"/>
              </a:ext>
            </a:extLst>
          </p:cNvPr>
          <p:cNvSpPr txBox="1"/>
          <p:nvPr/>
        </p:nvSpPr>
        <p:spPr>
          <a:xfrm>
            <a:off x="5651500" y="4495799"/>
            <a:ext cx="5664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>
                <a:solidFill>
                  <a:srgbClr val="B8C9D4"/>
                </a:solidFill>
                <a:latin typeface="Segoe UI" panose="020B0502040204020203" pitchFamily="34" charset="0"/>
              </a:rPr>
              <a:t>Владелец назначен · Цепочка доверена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8B78DD-2BB7-6D59-3297-3292F35196CA}"/>
              </a:ext>
            </a:extLst>
          </p:cNvPr>
          <p:cNvSpPr txBox="1"/>
          <p:nvPr/>
        </p:nvSpPr>
        <p:spPr>
          <a:xfrm>
            <a:off x="609600" y="5537199"/>
            <a:ext cx="109093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400">
                <a:solidFill>
                  <a:srgbClr val="FFFFFF"/>
                </a:solidFill>
                <a:latin typeface="Segoe UI" panose="020B0502040204020203" pitchFamily="34" charset="0"/>
              </a:rPr>
              <a:t>Каждое слагаемое видно в карточке сервиса.</a:t>
            </a:r>
            <a:endParaRPr lang="ru-KZ" sz="2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30A32-C7A6-E9F1-058E-7FF1B8191BE6}"/>
              </a:ext>
            </a:extLst>
          </p:cNvPr>
          <p:cNvSpPr txBox="1"/>
          <p:nvPr/>
        </p:nvSpPr>
        <p:spPr>
          <a:xfrm>
            <a:off x="609600" y="60706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B8C9D4"/>
                </a:solidFill>
                <a:latin typeface="Segoe UI" panose="020B0502040204020203" pitchFamily="34" charset="0"/>
              </a:rPr>
              <a:t>Демонстрационный пример. Баллы риска — не вероятность сбоя.</a:t>
            </a:r>
            <a:endParaRPr lang="ru-KZ" sz="13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03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8C7A8-C3EA-6569-7E11-851D406F9E50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17588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86313-8640-8726-E84A-D977869F34FF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617588"/>
                </a:solidFill>
                <a:latin typeface="Segoe UI" panose="020B0502040204020203" pitchFamily="34" charset="0"/>
              </a:rPr>
              <a:t>06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3540D-8C85-FDEC-8482-5E8BBC8C70F7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087E8B"/>
                </a:solidFill>
                <a:latin typeface="Segoe UI" panose="020B0502040204020203" pitchFamily="34" charset="0"/>
              </a:rPr>
              <a:t>РЕЗУЛЬТАТ ХАКАТОНА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BC2C9-F889-83F5-85D3-72EAAE37DA96}"/>
              </a:ext>
            </a:extLst>
          </p:cNvPr>
          <p:cNvSpPr txBox="1"/>
          <p:nvPr/>
        </p:nvSpPr>
        <p:spPr>
          <a:xfrm>
            <a:off x="609600" y="952499"/>
            <a:ext cx="109093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3600" b="1">
                <a:solidFill>
                  <a:srgbClr val="142A3D"/>
                </a:solidFill>
                <a:latin typeface="Segoe UI" panose="020B0502040204020203" pitchFamily="34" charset="0"/>
              </a:rPr>
              <a:t>Уже работает и проверено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6843052-27C5-8857-E9ED-41FA223CEE46}"/>
              </a:ext>
            </a:extLst>
          </p:cNvPr>
          <p:cNvSpPr/>
          <p:nvPr/>
        </p:nvSpPr>
        <p:spPr>
          <a:xfrm>
            <a:off x="609600" y="2108200"/>
            <a:ext cx="3454400" cy="187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B8A01-4D1D-D794-B387-2AD8713C4FFC}"/>
              </a:ext>
            </a:extLst>
          </p:cNvPr>
          <p:cNvSpPr txBox="1"/>
          <p:nvPr/>
        </p:nvSpPr>
        <p:spPr>
          <a:xfrm>
            <a:off x="876300" y="2273299"/>
            <a:ext cx="28956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5500" b="1">
                <a:solidFill>
                  <a:srgbClr val="087E8B"/>
                </a:solidFill>
                <a:latin typeface="Segoe UI" panose="020B0502040204020203" pitchFamily="34" charset="0"/>
              </a:rPr>
              <a:t>117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D7022-C6D9-158A-E482-1291B47D356E}"/>
              </a:ext>
            </a:extLst>
          </p:cNvPr>
          <p:cNvSpPr txBox="1"/>
          <p:nvPr/>
        </p:nvSpPr>
        <p:spPr>
          <a:xfrm>
            <a:off x="876300" y="3390899"/>
            <a:ext cx="3035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>
                <a:solidFill>
                  <a:srgbClr val="142A3D"/>
                </a:solidFill>
                <a:latin typeface="Segoe UI" panose="020B0502040204020203" pitchFamily="34" charset="0"/>
              </a:rPr>
              <a:t>автотестов прошли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79D013D-F018-8F30-C7D8-BBF834AB0F44}"/>
              </a:ext>
            </a:extLst>
          </p:cNvPr>
          <p:cNvSpPr/>
          <p:nvPr/>
        </p:nvSpPr>
        <p:spPr>
          <a:xfrm>
            <a:off x="4368800" y="2108200"/>
            <a:ext cx="3454400" cy="187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8DF26-982E-AA27-BA7A-BA3C19C66F46}"/>
              </a:ext>
            </a:extLst>
          </p:cNvPr>
          <p:cNvSpPr txBox="1"/>
          <p:nvPr/>
        </p:nvSpPr>
        <p:spPr>
          <a:xfrm>
            <a:off x="4635500" y="2273299"/>
            <a:ext cx="28956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5500" b="1">
                <a:solidFill>
                  <a:srgbClr val="087E8B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CDC9A4-0C72-9F2D-C6F5-D7A58766AA9D}"/>
              </a:ext>
            </a:extLst>
          </p:cNvPr>
          <p:cNvSpPr txBox="1"/>
          <p:nvPr/>
        </p:nvSpPr>
        <p:spPr>
          <a:xfrm>
            <a:off x="4635500" y="3390899"/>
            <a:ext cx="3035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>
                <a:solidFill>
                  <a:srgbClr val="142A3D"/>
                </a:solidFill>
                <a:latin typeface="Segoe UI" panose="020B0502040204020203" pitchFamily="34" charset="0"/>
              </a:rPr>
              <a:t>из них — </a:t>
            </a:r>
            <a:r>
              <a:rPr lang="en-US" sz="1700">
                <a:solidFill>
                  <a:srgbClr val="142A3D"/>
                </a:solidFill>
                <a:latin typeface="Segoe UI" panose="020B0502040204020203" pitchFamily="34" charset="0"/>
              </a:rPr>
              <a:t>TLS-</a:t>
            </a:r>
            <a:r>
              <a:rPr lang="ru-KZ" sz="1700">
                <a:solidFill>
                  <a:srgbClr val="142A3D"/>
                </a:solidFill>
                <a:latin typeface="Segoe UI" panose="020B0502040204020203" pitchFamily="34" charset="0"/>
              </a:rPr>
              <a:t>тесты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6626BE9-CAE6-E920-3623-295748C5088D}"/>
              </a:ext>
            </a:extLst>
          </p:cNvPr>
          <p:cNvSpPr/>
          <p:nvPr/>
        </p:nvSpPr>
        <p:spPr>
          <a:xfrm>
            <a:off x="8128000" y="2108200"/>
            <a:ext cx="3454400" cy="1879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1ADA1-5865-A299-B64D-F77FF9B68F7B}"/>
              </a:ext>
            </a:extLst>
          </p:cNvPr>
          <p:cNvSpPr txBox="1"/>
          <p:nvPr/>
        </p:nvSpPr>
        <p:spPr>
          <a:xfrm>
            <a:off x="8394700" y="2273299"/>
            <a:ext cx="28956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55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7CD14-A088-D09F-9B2A-260C13E998FB}"/>
              </a:ext>
            </a:extLst>
          </p:cNvPr>
          <p:cNvSpPr txBox="1"/>
          <p:nvPr/>
        </p:nvSpPr>
        <p:spPr>
          <a:xfrm>
            <a:off x="8394700" y="3390899"/>
            <a:ext cx="3035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700">
                <a:solidFill>
                  <a:srgbClr val="142A3D"/>
                </a:solidFill>
                <a:latin typeface="Segoe UI" panose="020B0502040204020203" pitchFamily="34" charset="0"/>
              </a:rPr>
              <a:t>полных браузерных демо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5BA55-E8A1-9B40-9CB8-8F79D2222660}"/>
              </a:ext>
            </a:extLst>
          </p:cNvPr>
          <p:cNvSpPr txBox="1"/>
          <p:nvPr/>
        </p:nvSpPr>
        <p:spPr>
          <a:xfrm>
            <a:off x="609600" y="4483099"/>
            <a:ext cx="342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300" b="1">
                <a:solidFill>
                  <a:srgbClr val="142A3D"/>
                </a:solidFill>
                <a:latin typeface="Segoe UI" panose="020B0502040204020203" pitchFamily="34" charset="0"/>
              </a:rPr>
              <a:t>Локальный запуск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E8DC7-BF59-4451-16BE-947ACB30E9A9}"/>
              </a:ext>
            </a:extLst>
          </p:cNvPr>
          <p:cNvSpPr txBox="1"/>
          <p:nvPr/>
        </p:nvSpPr>
        <p:spPr>
          <a:xfrm>
            <a:off x="609600" y="5041899"/>
            <a:ext cx="3454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617588"/>
                </a:solidFill>
                <a:latin typeface="Segoe UI" panose="020B0502040204020203" pitchFamily="34" charset="0"/>
              </a:rPr>
              <a:t>Без CDN. Для внутренних целей
интернет не требуется.*</a:t>
            </a:r>
            <a:endParaRPr lang="ru-KZ" sz="17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6FD9E8-5E5F-2802-9A0C-EAA198FDF7F4}"/>
              </a:ext>
            </a:extLst>
          </p:cNvPr>
          <p:cNvSpPr txBox="1"/>
          <p:nvPr/>
        </p:nvSpPr>
        <p:spPr>
          <a:xfrm>
            <a:off x="4368800" y="4483099"/>
            <a:ext cx="342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300" b="1">
                <a:solidFill>
                  <a:srgbClr val="142A3D"/>
                </a:solidFill>
                <a:latin typeface="Segoe UI" panose="020B0502040204020203" pitchFamily="34" charset="0"/>
              </a:rPr>
              <a:t>Отчёты и история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91D154-1BB4-732B-5725-7ABEE8BDA85D}"/>
              </a:ext>
            </a:extLst>
          </p:cNvPr>
          <p:cNvSpPr txBox="1"/>
          <p:nvPr/>
        </p:nvSpPr>
        <p:spPr>
          <a:xfrm>
            <a:off x="4368800" y="5041899"/>
            <a:ext cx="34925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617588"/>
                </a:solidFill>
                <a:latin typeface="Segoe UI" panose="020B0502040204020203" pitchFamily="34" charset="0"/>
              </a:rPr>
              <a:t>CSV, Excel, печатный отчёт.
Видны изменения сертификата.</a:t>
            </a:r>
            <a:endParaRPr lang="ru-KZ" sz="17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F4825-D56F-3C9C-9A59-C73E67347907}"/>
              </a:ext>
            </a:extLst>
          </p:cNvPr>
          <p:cNvSpPr txBox="1"/>
          <p:nvPr/>
        </p:nvSpPr>
        <p:spPr>
          <a:xfrm>
            <a:off x="8128000" y="4483099"/>
            <a:ext cx="342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300" b="1">
                <a:solidFill>
                  <a:srgbClr val="142A3D"/>
                </a:solidFill>
                <a:latin typeface="Segoe UI" panose="020B0502040204020203" pitchFamily="34" charset="0"/>
              </a:rPr>
              <a:t>Уведомления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044E0-93DE-14AD-2BA7-2BB444E0F53B}"/>
              </a:ext>
            </a:extLst>
          </p:cNvPr>
          <p:cNvSpPr txBox="1"/>
          <p:nvPr/>
        </p:nvSpPr>
        <p:spPr>
          <a:xfrm>
            <a:off x="8128000" y="5041899"/>
            <a:ext cx="34417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617588"/>
                </a:solidFill>
                <a:latin typeface="Segoe UI" panose="020B0502040204020203" pitchFamily="34" charset="0"/>
              </a:rPr>
              <a:t>Telegram, Email, Teams —
при настройке каналов.</a:t>
            </a:r>
            <a:endParaRPr lang="ru-KZ" sz="17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DD540-0FFE-AE18-9773-70E5E4ED71A1}"/>
              </a:ext>
            </a:extLst>
          </p:cNvPr>
          <p:cNvSpPr txBox="1"/>
          <p:nvPr/>
        </p:nvSpPr>
        <p:spPr>
          <a:xfrm>
            <a:off x="609600" y="6057900"/>
            <a:ext cx="10985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617588"/>
                </a:solidFill>
                <a:latin typeface="Segoe UI" panose="020B0502040204020203" pitchFamily="34" charset="0"/>
              </a:rPr>
              <a:t>* Зависимости подготовлены заранее. Внешним каналам нужна связь. Проверки: PROGRESS.md.</a:t>
            </a:r>
            <a:endParaRPr lang="ru-KZ" sz="1100">
              <a:solidFill>
                <a:srgbClr val="61758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58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348C4-23C6-DE99-9BA1-98FD3AC92A9C}"/>
              </a:ext>
            </a:extLst>
          </p:cNvPr>
          <p:cNvSpPr txBox="1"/>
          <p:nvPr/>
        </p:nvSpPr>
        <p:spPr>
          <a:xfrm>
            <a:off x="609600" y="6477000"/>
            <a:ext cx="444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B8C9D4"/>
                </a:solidFill>
                <a:latin typeface="Segoe UI" panose="020B0502040204020203" pitchFamily="34" charset="0"/>
              </a:rPr>
              <a:t>CERTIFICATE RADAR</a:t>
            </a:r>
            <a:endParaRPr lang="ru-KZ" sz="10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56240-A2F2-0EA4-8923-2D019D3096F8}"/>
              </a:ext>
            </a:extLst>
          </p:cNvPr>
          <p:cNvSpPr txBox="1"/>
          <p:nvPr/>
        </p:nvSpPr>
        <p:spPr>
          <a:xfrm>
            <a:off x="10972800" y="6477000"/>
            <a:ext cx="825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000">
                <a:solidFill>
                  <a:srgbClr val="B8C9D4"/>
                </a:solidFill>
                <a:latin typeface="Segoe UI" panose="020B0502040204020203" pitchFamily="34" charset="0"/>
              </a:rPr>
              <a:t>07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B32EE-5956-D45D-ED9F-5A34CE262242}"/>
              </a:ext>
            </a:extLst>
          </p:cNvPr>
          <p:cNvSpPr txBox="1"/>
          <p:nvPr/>
        </p:nvSpPr>
        <p:spPr>
          <a:xfrm>
            <a:off x="609600" y="4318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200" b="1">
                <a:solidFill>
                  <a:srgbClr val="7EE0C4"/>
                </a:solidFill>
                <a:latin typeface="Segoe UI" panose="020B0502040204020203" pitchFamily="34" charset="0"/>
              </a:rPr>
              <a:t>СЛЕДУЮЩИЙ ШАГ — ПИЛОТ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F4FC3-A674-CC3D-D6F8-8F83BD049F64}"/>
              </a:ext>
            </a:extLst>
          </p:cNvPr>
          <p:cNvSpPr txBox="1"/>
          <p:nvPr/>
        </p:nvSpPr>
        <p:spPr>
          <a:xfrm>
            <a:off x="609600" y="1117599"/>
            <a:ext cx="10985500" cy="146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900" b="1">
                <a:solidFill>
                  <a:srgbClr val="FFFFFF"/>
                </a:solidFill>
                <a:latin typeface="Segoe UI" panose="020B0502040204020203" pitchFamily="34" charset="0"/>
              </a:rPr>
              <a:t>От списка сертификатов
к очереди понятных задач</a:t>
            </a:r>
            <a:endParaRPr lang="ru-KZ" sz="3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ACF37-ADDD-E7A9-5D6C-C49434FB85D9}"/>
              </a:ext>
            </a:extLst>
          </p:cNvPr>
          <p:cNvSpPr txBox="1"/>
          <p:nvPr/>
        </p:nvSpPr>
        <p:spPr>
          <a:xfrm>
            <a:off x="609600" y="2857499"/>
            <a:ext cx="1087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300">
                <a:solidFill>
                  <a:srgbClr val="B8C9D4"/>
                </a:solidFill>
                <a:latin typeface="Segoe UI" panose="020B0502040204020203" pitchFamily="34" charset="0"/>
              </a:rPr>
              <a:t>Выбранная группа </a:t>
            </a:r>
            <a:r>
              <a:rPr lang="en-US" sz="2300">
                <a:solidFill>
                  <a:srgbClr val="B8C9D4"/>
                </a:solidFill>
                <a:latin typeface="Segoe UI" panose="020B0502040204020203" pitchFamily="34" charset="0"/>
              </a:rPr>
              <a:t>TLS-</a:t>
            </a:r>
            <a:r>
              <a:rPr lang="ru-KZ" sz="2300">
                <a:solidFill>
                  <a:srgbClr val="B8C9D4"/>
                </a:solidFill>
                <a:latin typeface="Segoe UI" panose="020B0502040204020203" pitchFamily="34" charset="0"/>
              </a:rPr>
              <a:t>сервисов компании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5FE7C82-1BDF-7C82-CC76-DB47339F3D3A}"/>
              </a:ext>
            </a:extLst>
          </p:cNvPr>
          <p:cNvSpPr/>
          <p:nvPr/>
        </p:nvSpPr>
        <p:spPr>
          <a:xfrm>
            <a:off x="609600" y="3873500"/>
            <a:ext cx="3454400" cy="1333500"/>
          </a:xfrm>
          <a:prstGeom prst="roundRect">
            <a:avLst>
              <a:gd name="adj" fmla="val 12000"/>
            </a:avLst>
          </a:prstGeom>
          <a:solidFill>
            <a:srgbClr val="1B37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7E70A-BEAE-2B29-0A1F-7F714BD68CDC}"/>
              </a:ext>
            </a:extLst>
          </p:cNvPr>
          <p:cNvSpPr txBox="1"/>
          <p:nvPr/>
        </p:nvSpPr>
        <p:spPr>
          <a:xfrm>
            <a:off x="838200" y="4076699"/>
            <a:ext cx="2857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300" b="1">
                <a:solidFill>
                  <a:srgbClr val="7EE0C4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4D971-E8FE-F089-A4C8-0627C9FDA27B}"/>
              </a:ext>
            </a:extLst>
          </p:cNvPr>
          <p:cNvSpPr txBox="1"/>
          <p:nvPr/>
        </p:nvSpPr>
        <p:spPr>
          <a:xfrm>
            <a:off x="838200" y="4521199"/>
            <a:ext cx="29972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 b="1">
                <a:solidFill>
                  <a:srgbClr val="FFFFFF"/>
                </a:solidFill>
                <a:latin typeface="Segoe UI" panose="020B0502040204020203" pitchFamily="34" charset="0"/>
              </a:rPr>
              <a:t>Найти проблемы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873577D-3FBA-85C0-790F-D98E78C4A8FF}"/>
              </a:ext>
            </a:extLst>
          </p:cNvPr>
          <p:cNvSpPr/>
          <p:nvPr/>
        </p:nvSpPr>
        <p:spPr>
          <a:xfrm>
            <a:off x="4368800" y="3873500"/>
            <a:ext cx="3454400" cy="1333500"/>
          </a:xfrm>
          <a:prstGeom prst="roundRect">
            <a:avLst>
              <a:gd name="adj" fmla="val 12000"/>
            </a:avLst>
          </a:prstGeom>
          <a:solidFill>
            <a:srgbClr val="1B37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95669-3765-CB59-59AE-E69091EF8AC9}"/>
              </a:ext>
            </a:extLst>
          </p:cNvPr>
          <p:cNvSpPr txBox="1"/>
          <p:nvPr/>
        </p:nvSpPr>
        <p:spPr>
          <a:xfrm>
            <a:off x="4597400" y="4076699"/>
            <a:ext cx="2857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300" b="1">
                <a:solidFill>
                  <a:srgbClr val="7EE0C4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0F36F-BF0C-9057-6100-CB48D2335270}"/>
              </a:ext>
            </a:extLst>
          </p:cNvPr>
          <p:cNvSpPr txBox="1"/>
          <p:nvPr/>
        </p:nvSpPr>
        <p:spPr>
          <a:xfrm>
            <a:off x="4597400" y="4521199"/>
            <a:ext cx="29972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 b="1">
                <a:solidFill>
                  <a:srgbClr val="FFFFFF"/>
                </a:solidFill>
                <a:latin typeface="Segoe UI" panose="020B0502040204020203" pitchFamily="34" charset="0"/>
              </a:rPr>
              <a:t>Назначить владельцев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B998708-E700-1E2A-9951-306FD19EBC03}"/>
              </a:ext>
            </a:extLst>
          </p:cNvPr>
          <p:cNvSpPr/>
          <p:nvPr/>
        </p:nvSpPr>
        <p:spPr>
          <a:xfrm>
            <a:off x="8128000" y="3873500"/>
            <a:ext cx="3454400" cy="1333500"/>
          </a:xfrm>
          <a:prstGeom prst="roundRect">
            <a:avLst>
              <a:gd name="adj" fmla="val 12000"/>
            </a:avLst>
          </a:prstGeom>
          <a:solidFill>
            <a:srgbClr val="1B37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F52F4-7B78-BBE5-5D3F-7485F6C8513E}"/>
              </a:ext>
            </a:extLst>
          </p:cNvPr>
          <p:cNvSpPr txBox="1"/>
          <p:nvPr/>
        </p:nvSpPr>
        <p:spPr>
          <a:xfrm>
            <a:off x="8356600" y="4076699"/>
            <a:ext cx="2857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1300" b="1">
                <a:solidFill>
                  <a:srgbClr val="7EE0C4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81B5F-5CAC-538C-DB40-453D7EE3625F}"/>
              </a:ext>
            </a:extLst>
          </p:cNvPr>
          <p:cNvSpPr txBox="1"/>
          <p:nvPr/>
        </p:nvSpPr>
        <p:spPr>
          <a:xfrm>
            <a:off x="8356600" y="4521199"/>
            <a:ext cx="29972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KZ" sz="2100" b="1">
                <a:solidFill>
                  <a:srgbClr val="FFFFFF"/>
                </a:solidFill>
                <a:latin typeface="Segoe UI" panose="020B0502040204020203" pitchFamily="34" charset="0"/>
              </a:rPr>
              <a:t>Проверить исправления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1C612-F236-7811-F9BE-CADA83E5E598}"/>
              </a:ext>
            </a:extLst>
          </p:cNvPr>
          <p:cNvSpPr txBox="1"/>
          <p:nvPr/>
        </p:nvSpPr>
        <p:spPr>
          <a:xfrm>
            <a:off x="609600" y="5727699"/>
            <a:ext cx="10985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B8C9D4"/>
                </a:solidFill>
                <a:latin typeface="Segoe UI" panose="020B0502040204020203" pitchFamily="34" charset="0"/>
              </a:rPr>
              <a:t>MVP: ручной запуск сканов, без автоматического перевыпуска
и проверки отзыва сертификатов.</a:t>
            </a:r>
            <a:endParaRPr lang="ru-KZ" sz="1600">
              <a:solidFill>
                <a:srgbClr val="B8C9D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83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Microsoft Office PowerPoint</Application>
  <PresentationFormat>Произвольный</PresentationFormat>
  <Paragraphs>113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iwbhappy</dc:creator>
  <cp:lastModifiedBy>iwbhappy</cp:lastModifiedBy>
  <cp:revision>1</cp:revision>
  <dcterms:created xsi:type="dcterms:W3CDTF">2026-09-25T07:34:32Z</dcterms:created>
  <dcterms:modified xsi:type="dcterms:W3CDTF">2026-09-25T07:34:32Z</dcterms:modified>
</cp:coreProperties>
</file>